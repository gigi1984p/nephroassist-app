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Benvenuti. Sono [Nome], fondatore di NephroAssist. Oggi vi mostrerò perché il percorso più complesso in medicina — la strada verso il trapianto di organo — è ancora gestito con Excel, telefonate e post-it. E come noi chiudiamo questa lacuna. Non è un'idea nata nel Silicon Valley. È un problema che i coordinatori dei trapianti vivono ogni giorno.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coordinatore dei trapianti è la figura non chirurgica più importante dell'intero processo. Coordina la valutazione, la raccolta dei documenti, la pianificazione degli appuntamenti e la comunicazione con il paziente — spesso per 40–60 pazienti contemporaneamente. E gli strumenti? Excel, telefono, email. Questo non è un problema di workflow. È un problema di sicurezza del paziente. Ogni settimana di ritardo significa più tempo in lista d'attesa. È tempo di vita.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 sostituiamo il fascicolo sanitario elettronico. Lo completiamo. NephroAssist è lo strato che manca: tra il sistema clinico (Epic, Cerner) e il paziente. Diamo al coordinatore una dashboard che mostra dove si trova ogni paziente. Diamo al paziente un'app che gli dice cosa fare dopo. Non è un'innovazione tecnologica — è una scelta di design. Abbiamo pensato al percorso dal punto di vista del coordinatore, non del CIO.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nostra architettura è deliberatamente stratificata. Lo strato più basso è l'app del paziente — quello che il paziente vede. Sopra, lo strato di coordinazione per il care team. Sopra ancora, il motore di workflow con liste di controllo e approvazioni. In cima, lo strato analytics che mostra al direttore del programma quanto velocemente i pazienti completano la valutazione. Partiamo dal rene perché rappresenta il 70% di tutti i trapianti d'organo solido. Questa è la nostra spiaggia.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 è un mercato da miliardi. È una scelta deliberata. Puntiamo a una nicchia ad alto valore, appiccicosa e sottoservita. 40 centri in Italia. Altri 250–300 in Europa. Un singolo contratto Enterprise a €30K–€50K/anno è redditizio — e i centri non cambiano ogni due anni. Il tasso di abbandono è basso perché i dati dei pazienti devono essere migrati e i coordinatori devono essere riaddestrati. Questo è un fossato difensivo.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nostro pricing è trasparente — è una scelta deliberata. Ogni concorrente in questo spazio vende tramite contratti enterprise opachi. Noi mostriamo i prezzi sul sito. Questo abbassa la soglia di ingresso per i centri più piccoli e costruisce fiducia. Il flywheel freemium funziona così: un paziente usa l'app gratuita, la menziona al suo coordinatore, che si registra, e noi convertiamo in un account a pagamento. Nessun marketing a pagamento necessario.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Abbiamo già un prototipo funzionante. Workflow paziente, gestione documenti, dashboard — tutto presente. Quello che stiamo chiudendo sono le lacune di sicurezza che ci separano da un pilota con veri dati sanitari. Non è un "ci vogliono 6 mesi di sviluppo". È un "ci vogliono 4–6 settimane di hardening della sicurezza". Il primo pilota può iniziare al Mese 3. E in Italia, l'export CNT-ready è un vantaggio competitivo unico: nessun altro strumento generico può generare report già formattati per il Centro Nazionale Trapianti.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nostro vantaggio competitivo non è una singola funzionalità. È la combinazione di profondità di dominio, compliance e filosofia di design. CareDx è profondo nel trapianto, ma non ha un'app paziente. SeamlessMD ha un'app paziente, ma non ha la specializzazione trapianto. Epic ha tutto, ma i coordinatori si lamentano dell'usabilità. Noi siamo gli unici a servire esattamente questa lacuna: coordinazione pre-trapianto, patient-facing, compliance-ready. E in Italia, siamo i primi — questo è un fossato difensivo enorme.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 siamo un team di consulenti McKinsey che ha scritto un pitch deck per un settore che non conosce. Abbiamo incorporato feedback diretto dai coordinatori dei trapianti. La visione è semplice: nessun paziente dovrebbe essere dimenticato in lista d'attesa perché un documento si è perso in una email. Questo è tecnicamente risolvibile. È un problema di design.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nostro modello finanziario è conservativo. Il caso BASE porta €113K in 24 mesi — senza budget marketing, senza team di vendite, solo tempo del founder. Non è un "diventeremo unicorni". È un "dimostreremo che i centri sono disposti a pagare, prima di bruciare denaro". Il caso BULL mostra cosa è possibile se il passaparola virale funziona. La sensibilità è alta su churn e tempo al primo cliente — quelle sono le leve che controlliamo.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 cerchiamo un round da 10 milioni. Cerchiamo un investimento Angel o Pre-Seed che ci porti da "potrebbe funzionare" a "funziona". L'impiego principale è compliance e sicurezza — questo è il requisito di ingresso per ogni cliente ospedaliero. Il 35% va in Engineering per costruire l'integrazione FHIR e il modulo donatore vivente. Il 20% in Sales per finanziare il primo Customer Success Manager. Misuriamo il successo non sui numeri di utenti. Lo misuriamo sui clienti paganti, l'MRR e un report SOC 2.</a:t>
            </a:r>
          </a:p>
          <a:p/>
          <a:p>
            <a:r>
              <a:t>---</a:t>
            </a:r>
          </a:p>
          <a:p/>
          <a:p>
            <a:r>
              <a:t>*Dati di mercato da CNT, Ministero della Salute, Eurotransplant, NHSBT e ispezione live dei siti concorrenti. Le proiezioni finanziarie sono strumenti di scenario-planning, non previsioni. Le ipotesi sono documentate esplicitamente nel Zero-Budget Financial Model.*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Helvetica Neue"/>
              </a:defRPr>
            </a:pPr>
            <a:r>
              <a:t># NephroAssist —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DCDC"/>
                </a:solidFill>
                <a:latin typeface="Helvetica Neue"/>
              </a:defRPr>
            </a:pPr>
            <a:r>
              <a:t>La prima piattaforma italiana dedicata alla valutazione pre-trapianto e alla coordinazione dei pazienti</a:t>
            </a:r>
            <a:br/>
            <a:r>
              <a:t>Per investitori e partner strategici | Agosto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Helvetica Neue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4A3C"/>
                </a:solidFill>
                <a:latin typeface="Helvetica Neue"/>
              </a:defRPr>
            </a:pPr>
            <a:r>
              <a:t>Copertina — Il Gancio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# NephroAssist</a:t>
            </a:r>
            <a:br/>
            <a:r>
              <a:t>## Meno telefonate, meno carta, più pazienti pronti per il trapianto.</a:t>
            </a:r>
            <a:br/>
            <a:br/>
            <a:r>
              <a:t>La prima piattaforma italiana dedicata alla valutazione pre-trapianto e alla coordinazione dei pazienti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4A3C"/>
                </a:solidFill>
                <a:latin typeface="Helvetica Neue"/>
              </a:defRPr>
            </a:pPr>
            <a:r>
              <a:t>Il Problema — La Crisi della Coordinazione Trapianti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Il percorso pre-trapianto più complesso in medicina gira su fogli di calcolo.</a:t>
            </a:r>
            <a:br/>
            <a:br/>
            <a:r>
              <a:t>• **~40 centri trapianti di rene attivi** in Italia</a:t>
            </a:r>
            <a:br/>
            <a:r>
              <a:t>• **~8.000 pazienti** in lista d'attesa per il rene</a:t>
            </a:r>
            <a:br/>
            <a:r>
              <a:t>• **~3.000–3.500 trapianti di rene** all'anno</a:t>
            </a:r>
            <a:br/>
            <a:r>
              <a:t>• I coordinatori gestiscono **40–60 pazienti** contemporaneamente nella fase di valutazione</a:t>
            </a:r>
            <a:br/>
            <a:r>
              <a:t>• **10+ ore/settimana** perse a rincorrere documenti e ricordare appuntamenti</a:t>
            </a:r>
            <a:br/>
            <a:r>
              <a:t>• Appuntamenti persi e valutazioni incomplete **ritardano l'inserimento in lista di settimane o mesi**</a:t>
            </a:r>
            <a:br/>
            <a:r>
              <a:t>• **Nessuno strumento dedicato esiste** per la coordinazione pre-trapianto in Italia</a:t>
            </a:r>
            <a:br/>
            <a:br/>
            <a:r>
              <a:t>• «Gestiamo tutto su Excel. Quando un coordinatore è assente, nessuno sa dove stanno le cose.»</a:t>
            </a:r>
            <a:br/>
            <a:r>
              <a:t>• — Coordinatore dei trapianti, centro accademico italiano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4A3C"/>
                </a:solidFill>
                <a:latin typeface="Helvetica Neue"/>
              </a:defRPr>
            </a:pPr>
            <a:r>
              <a:t>La Soluzione — NephroAssist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La prima piattaforma che si colloca tra il fascicolo sanitario elettronico e il paziente — dedicata al trapianto.</a:t>
            </a:r>
            <a:br/>
            <a:br/>
            <a:r>
              <a:t>Cosa fa:</a:t>
            </a:r>
            <a:br/>
            <a:r>
              <a:t>• Liste di controllo intelligenti per la valutazione pre-trapianto (rene → cuore, fegato, polmone)</a:t>
            </a:r>
            <a:br/>
            <a:r>
              <a:t>• Chat sicura in tempo reale tra paziente e coordinatore (non solo telefono come CareDx)</a:t>
            </a:r>
            <a:br/>
            <a:r>
              <a:t>• Raccolta e revisione documenti automatizzata</a:t>
            </a:r>
            <a:br/>
            <a:r>
              <a:t>• Promemoria per l'assunzione dei farmaci con visibilità per il care team</a:t>
            </a:r>
            <a:br/>
            <a:r>
              <a:t>• Educazione del paziente lungo il percorso pre-trapianto</a:t>
            </a:r>
            <a:br/>
            <a:br/>
            <a:r>
              <a:t>Come si integra:</a:t>
            </a:r>
            <a:br/>
            <a:r>
              <a:t>• Avvio SMART on FHIR da Epic/Cerner — legge esami, appuntamenti, dati demografici</a:t>
            </a:r>
            <a:br/>
            <a:r>
              <a:t>• Posizionata come **strato di coordinazione**, non come sostituto del FSE</a:t>
            </a:r>
            <a:br/>
            <a:r>
              <a:t>• GDPR Art. 9 pronto; DPIA completata; hosting UE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4A3C"/>
                </a:solidFill>
                <a:latin typeface="Helvetica Neue"/>
              </a:defRPr>
            </a:pPr>
            <a:r>
              <a:t>Prodotto — Quattro Strati di Valore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┌─────────────────────────────────────────────┐</a:t>
            </a:r>
            <a:br/>
            <a:r>
              <a:t>│  Strato 4: Intelligence &amp; Analytics         │</a:t>
            </a:r>
            <a:br/>
            <a:r>
              <a:t>│  — Dashboard del coordinatore, tassi di       │</a:t>
            </a:r>
            <a:br/>
            <a:r>
              <a:t>│    completamento, metriche time-to-listing,   │</a:t>
            </a:r>
            <a:br/>
            <a:r>
              <a:t>│    reportistica CNT-ready                     │</a:t>
            </a:r>
            <a:br/>
            <a:r>
              <a:t>├─────────────────────────────────────────────┤</a:t>
            </a:r>
            <a:br/>
            <a:r>
              <a:t>│  Strato 3: Motore di Workflow Trapianto     │</a:t>
            </a:r>
            <a:br/>
            <a:r>
              <a:t>│  — Liste di controllo per organo, revisione   │</a:t>
            </a:r>
            <a:br/>
            <a:r>
              <a:t>│    documenti, catene di approvazione, audit   │</a:t>
            </a:r>
            <a:br/>
            <a:r>
              <a:t>├─────────────────────────────────────────────┤</a:t>
            </a:r>
            <a:br/>
            <a:r>
              <a:t>│  Strato 2: Coordinazione Dialisi &amp; Pre-      │</a:t>
            </a:r>
            <a:br/>
            <a:r>
              <a:t>│    Trapianto — Pianificazione appuntamenti,   │</a:t>
            </a:r>
            <a:br/>
            <a:r>
              <a:t>│    tracciamento esami, gestione ricoveri,     │</a:t>
            </a:r>
            <a:br/>
            <a:r>
              <a:t>│    chat del care team                         │</a:t>
            </a:r>
            <a:br/>
            <a:r>
              <a:t>├─────────────────────────────────────────────┤</a:t>
            </a:r>
            <a:br/>
            <a:r>
              <a:t>│  Strato 1: Strato di Esecuzione per il       │</a:t>
            </a:r>
            <a:br/>
            <a:r>
              <a:t>│    Paziente — PWA mobile, liste attività,     │</a:t>
            </a:r>
            <a:br/>
            <a:r>
              <a:t>│    promemoria farmaci, contenuti educativi,   │</a:t>
            </a:r>
            <a:br/>
            <a:r>
              <a:t>│    tracciamento progressi                     │</a:t>
            </a:r>
            <a:br/>
            <a:r>
              <a:t>└─────────────────────────────────────────────┘</a:t>
            </a:r>
            <a:br/>
            <a:br/>
            <a:r>
              <a:t>MVP (Mesi 1–6): Strato 1 + 2, solo rene</a:t>
            </a:r>
            <a:br/>
            <a:r>
              <a:t>Fase 2 (Mesi 6–18): Cuore, fegato, polmone; workflow donatore vivente</a:t>
            </a:r>
            <a:br/>
            <a:r>
              <a:t>Fase 3 (Mesi 18–36): Personalizzazione AI, espansione EU, automazione CNT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4A3C"/>
                </a:solidFill>
                <a:latin typeface="Helvetica Neue"/>
              </a:defRPr>
            </a:pPr>
            <a:r>
              <a:t>Mercato — Nichia, Sticky, Sottoservito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Mercato Addressable (Italia):</a:t>
            </a:r>
            <a:br/>
            <a:r>
              <a:t>• TAM a €5K–€50K/centro/anno: **€200K–€2M annuali**</a:t>
            </a:r>
            <a:br/>
            <a:r>
              <a:t>• EU+UK raddoppia il conteggio dei programmi</a:t>
            </a:r>
            <a:br/>
            <a:r>
              <a:t>• Post-trapianto adherence, coordinazione donatore vivente e moduli pediatrici estendono il TAM</a:t>
            </a:r>
            <a:br/>
            <a:br/>
            <a:r>
              <a:t>Perché questo mercato vince:</a:t>
            </a:r>
            <a:br/>
            <a:r>
              <a:t>• Sticky: i centri trapianti cambiano raramente strumenti a metà ciclo</a:t>
            </a:r>
            <a:br/>
            <a:r>
              <a:t>• Mission-critical: i ritardi nell'inserimento in lista influenzano direttamente la sopravvivenza del paziente</a:t>
            </a:r>
            <a:br/>
            <a:r>
              <a:t>• Attualmente servito da moduli FSE/EHR con lacune di usabilità note</a:t>
            </a:r>
            <a:br/>
            <a:r>
              <a:t>• **Nessun concorrente diretto** in Italia nella coordinazione pre-trapianto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4A3C"/>
                </a:solidFill>
                <a:latin typeface="Helvetica Neue"/>
              </a:defRPr>
            </a:pPr>
            <a:r>
              <a:t>Modello di Business — Land-and-Expand B2B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Logica di pricing:</a:t>
            </a:r>
            <a:br/>
            <a:r>
              <a:t>• Tutti i concorrenti usano vendite enterprise opache — il pricing trasparente è un differenziatore di fiducia</a:t>
            </a:r>
            <a:br/>
            <a:r>
              <a:t>• Il tier Starter è abbastanza basso da aggirare l'approvazione del comitato in alcuni centri</a:t>
            </a:r>
            <a:br/>
            <a:r>
              <a:t>• Enterprise prezzato 20–40% sotto piattaforme generiche equivalenti per vincere il displacement</a:t>
            </a:r>
            <a:br/>
            <a:br/>
            <a:r>
              <a:t>Freemium Flywheel: App paziente gratuita → inviti virali del coordinatore → trial → conversione a pagamento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4A3C"/>
                </a:solidFill>
                <a:latin typeface="Helvetica Neue"/>
              </a:defRPr>
            </a:pPr>
            <a:r>
              <a:t>Traction &amp; Readiness del Pilota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Stato attuale:</a:t>
            </a:r>
            <a:br/>
            <a:r>
              <a:t>• Codebase Next.js esistente con workflow paziente/caso/compito</a:t>
            </a:r>
            <a:br/>
            <a:r>
              <a:t>• Pipeline di upload e revisione documenti</a:t>
            </a:r>
            <a:br/>
            <a:r>
              <a:t>• Dashboard e viste analytics</a:t>
            </a:r>
            <a:br/>
            <a:r>
              <a:t>• UI PWA-ready Bootstrap 5.3</a:t>
            </a:r>
            <a:br/>
            <a:br/>
            <a:r>
              <a:t>Lacune di sicurezza e compliance in chiusura:</a:t>
            </a:r>
            <a:br/>
            <a:r>
              <a:t>• Middleware JWT Bypass (P0) — fix in corso</a:t>
            </a:r>
            <a:br/>
            <a:r>
              <a:t>• Hardcoded Fallback Secret (P0) — fix in corso</a:t>
            </a:r>
            <a:br/>
            <a:r>
              <a:t>• Rate Limiting (P0) — implementazione pianificata</a:t>
            </a:r>
            <a:br/>
            <a:r>
              <a:t>• Engagement audit SOC 2 Type II: obiettivo Mese 3</a:t>
            </a:r>
            <a:br/>
            <a:br/>
            <a:r>
              <a:t>Strategia pilota Italia:</a:t>
            </a:r>
            <a:br/>
            <a:r>
              <a:t>• Target: 1 centro accademico + 1 centro di comunità per diversità</a:t>
            </a:r>
            <a:br/>
            <a:r>
              <a:t>• Pilota di 90 giorni con metriche di successo definite (tasso completamento liste, tempo risparmiato coordinatore)</a:t>
            </a:r>
            <a:br/>
            <a:r>
              <a:t>• Contratti manuali; nessun self-serve billing necessario per i primi ricavi</a:t>
            </a:r>
            <a:br/>
            <a:r>
              <a:t>• **Export CNT-ready** per la reportistica al Centro Nazionale Trapianti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4A3C"/>
                </a:solidFill>
                <a:latin typeface="Helvetica Neue"/>
              </a:defRPr>
            </a:pPr>
            <a:r>
              <a:t>Vantaggio Competitivo — Perché vinciamo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• **Profondità di dominio:** L'unica piattaforma costruita per il percorso pre-trapianto a 5 stadi (considerazione → selezione centro → valutazione/lista → attesa → offerta/OP)</a:t>
            </a:r>
            <a:br/>
            <a:br/>
            <a:r>
              <a:t>• **First-mover nella lacuna:** Nessun concorrente combina liste di controllo specifiche per trapianto + chat in tempo reale paziente-coordinatore + workflow documentali</a:t>
            </a:r>
            <a:br/>
            <a:br/>
            <a:r>
              <a:t>• **Architettura compliance-first:** GDPR Art. 9 pronto dal giorno 1; DPIA completata; gestione consenso granulare — nessun concorrente generico offre questo livello</a:t>
            </a:r>
            <a:br/>
            <a:br/>
            <a:r>
              <a:t>• **Integrazione, non sostituzione:** Avvio SMART on FHIR da Epic/Cerner riduce l'attrito di approvvigionamento rispetto al rip-and-replace</a:t>
            </a:r>
            <a:br/>
            <a:br/>
            <a:r>
              <a:t>• **Design coordinatore-first:** Costruito per il dolore quotidiano, non per la checklist del CIO</a:t>
            </a:r>
            <a:br/>
            <a:br/>
            <a:r>
              <a:t>• **Vantaggio Italia-specifico:** Primo strumento nativamente italiano per la coordinazione pre-trapianto; export CNT-ready; conformità GDPR con hosting UE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4A3C"/>
                </a:solidFill>
                <a:latin typeface="Helvetica Neue"/>
              </a:defRPr>
            </a:pPr>
            <a:r>
              <a:t>Team &amp; Visione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Founder-led, domain-informato, compliance-first.</a:t>
            </a:r>
            <a:br/>
            <a:br/>
            <a:r>
              <a:t>Il team unisce esperienza prodotto in Healthcare SaaS con profonda conoscenza del workflow del coordinatore dei trapianti. Lo stack tecnico (Next.js, PostgreSQL, Prisma, Bootstrap) è collaudato in produzione ed evolvibile.</a:t>
            </a:r>
            <a:br/>
            <a:br/>
            <a:r>
              <a:t>Visione:</a:t>
            </a:r>
            <a:br/>
            <a:r>
              <a:t>• Ogni paziente in attesa di trapianto, ovunque nel mondo, dovrebbe avere un percorso chiaro e tracciabile dalla presa in carico al trapianto — e ogni coordinatore dovrebbe sapere esattamente dove si trova ogni paziente, senza aprire un foglio di calcolo.</a:t>
            </a:r>
            <a:br/>
            <a:br/>
            <a:r>
              <a:t>Prossimi traguardi:</a:t>
            </a:r>
            <a:br/>
            <a:r>
              <a:t>• Mese 3: Prima clinica pilota live</a:t>
            </a:r>
            <a:br/>
            <a:r>
              <a:t>• Mese 6: Primo cliente pagante</a:t>
            </a:r>
            <a:br/>
            <a:r>
              <a:t>• Mese 12: SOC 2 Type II + 10 clienti paganti</a:t>
            </a:r>
            <a:br/>
            <a:r>
              <a:t>• Mese 18: Primo contratto Enterprise + integrazione FHIR read</a:t>
            </a:r>
            <a:br/>
            <a:r>
              <a:t>• Anno 2: Espansione multi-organo + ingresso nel mercato EU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4A3C"/>
                </a:solidFill>
                <a:latin typeface="Helvetica Neue"/>
              </a:defRPr>
            </a:pPr>
            <a:r>
              <a:t>Proiezioni Finanziarie — Tre Scenari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Ricavi 24 mesi (Modello Zero-Bootstrap):</a:t>
            </a:r>
            <a:br/>
            <a:br/>
            <a:br/>
            <a:r>
              <a:t>Ipotesi chiave:</a:t>
            </a:r>
            <a:br/>
            <a:r>
              <a:t>• Solo founder, nessun marketing a pagamento (CAC ≈ €0)</a:t>
            </a:r>
            <a:br/>
            <a:r>
              <a:t>• Costi infrastruttura: €70–€120/mese</a:t>
            </a:r>
            <a:br/>
            <a:r>
              <a:t>• Churn mensile: 3–8% (Starter/Pro); Churn annuale: 15–50% (Enterprise)</a:t>
            </a:r>
            <a:br/>
            <a:r>
              <a:t>• Tempo fino al primo cliente pagante: 3–9 mesi</a:t>
            </a:r>
            <a:br/>
            <a:br/>
            <a:r>
              <a:t>Unit Economics (BASE):</a:t>
            </a:r>
            <a:br/>
            <a:r>
              <a:t>• Starter LTV: €5.000 | Professional LTV: €13.333 | Enterprise LTV: €144.000</a:t>
            </a:r>
            <a:br/>
            <a:r>
              <a:t>• Cash CAC: €0 | LTV:CAC = infinito su base cash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4A3C"/>
                </a:solidFill>
                <a:latin typeface="Helvetica Neue"/>
              </a:defRPr>
            </a:pPr>
            <a:r>
              <a:t>La Richiesta — Impiego dei Fondi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Cercato: Round Angel / Pre-Seed per accelerare da zero-bootstrap ai primi 10 clienti paganti</a:t>
            </a:r>
            <a:br/>
            <a:br/>
            <a:br/>
            <a:r>
              <a:t>Metriche di successo per questo round:</a:t>
            </a:r>
            <a:br/>
            <a:r>
              <a:t>• 10+ clienti paganti in 3+ centri trapianti</a:t>
            </a:r>
            <a:br/>
            <a:r>
              <a:t>• €5K+ MRR</a:t>
            </a:r>
            <a:br/>
            <a:r>
              <a:t>• Net Revenue Retention &gt;100%</a:t>
            </a:r>
            <a:br/>
            <a:r>
              <a:t>• SOC 2 Type II report pulito</a:t>
            </a:r>
            <a:br/>
            <a:r>
              <a:t>• 1 case study pilota pubblicata con dati di miglioramento time-to-listing</a:t>
            </a:r>
            <a:br/>
            <a:br/>
            <a:r>
              <a:t>Contatti:</a:t>
            </a:r>
            <a:br/>
            <a:r>
              <a:t>• E-mail: [investors@nephroassist.com]</a:t>
            </a:r>
            <a:br/>
            <a:r>
              <a:t>• LinkedIn: [linkedin.com/company/nephroassist]</a:t>
            </a:r>
            <a:br/>
            <a:r>
              <a:t>• Sito: [nephroassist.com]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