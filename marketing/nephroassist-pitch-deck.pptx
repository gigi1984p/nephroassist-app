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NephroAssist —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CDCDC"/>
                </a:solidFill>
                <a:latin typeface="Helvetica Neue"/>
              </a:defRPr>
            </a:pPr>
            <a:r>
              <a:t>Transplant-Specific Patient Readiness &amp; Care-Coordination Platform</a:t>
            </a:r>
            <a:br/>
            <a:br/>
            <a:r>
              <a:t>Prepared for investors and strategic partners | August 2026</a:t>
            </a:r>
            <a:br/>
            <a:br/>
            <a:r>
              <a:t>---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  <a:latin typeface="Helvetica Neue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1: Problem — The Transplant Coordination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Transplant coordinators manage the most complex, high-stakes patient journey in medicine — with spreadsheets, phone trees, and sticky notes.</a:t>
            </a:r>
            <a:br/>
            <a:br/>
            <a:r>
              <a:t>• **90,000+** kidney patients on the U.S. waiting list (SRTR/OPTN)</a:t>
            </a:r>
            <a:br/>
            <a:r>
              <a:t>• **250+** transplant programs in the U.S. alone</a:t>
            </a:r>
            <a:br/>
            <a:r>
              <a:t>• Coordinators juggle **50+ patients** across 5 distinct evaluation stages</a:t>
            </a:r>
            <a:br/>
            <a:r>
              <a:t>• **10+ hours/week** lost chasing documents and reminding patients</a:t>
            </a:r>
            <a:br/>
            <a:r>
              <a:t>• Missed appointments and incomplete evaluations **delay listing by weeks or months**</a:t>
            </a:r>
            <a:br/>
            <a:r>
              <a:t>• **No dedicated tool exists** for pre-transplant patient readiness coordination</a:t>
            </a:r>
            <a:br/>
            <a:br/>
            <a:r>
              <a:t>• "We track everything in Excel. When a coordinator is out sick, nobody knows where anything stands."</a:t>
            </a:r>
            <a:br/>
            <a:r>
              <a:t>• — Transplant Coordinator, Midwest Academic Medical Center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2: Solution — NephroAssist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The first transplant-specific readiness platform that sits between the EHR and the patient.</a:t>
            </a:r>
            <a:br/>
            <a:br/>
            <a:r>
              <a:t>What it does:</a:t>
            </a:r>
            <a:br/>
            <a:r>
              <a:t>• Structured, organ-specific readiness checklists (kidney → heart, liver, lung)</a:t>
            </a:r>
            <a:br/>
            <a:r>
              <a:t>• Real-time patient-coordinator chat (not phone-only like CareDx)</a:t>
            </a:r>
            <a:br/>
            <a:r>
              <a:t>• Automated document collection and review workflows</a:t>
            </a:r>
            <a:br/>
            <a:r>
              <a:t>• Medication adherence reminders with care-team visibility</a:t>
            </a:r>
            <a:br/>
            <a:r>
              <a:t>• Patient education mapped to the 5-stage transplant journey</a:t>
            </a:r>
            <a:br/>
            <a:br/>
            <a:r>
              <a:t>How it integrates:</a:t>
            </a:r>
            <a:br/>
            <a:r>
              <a:t>• SMART on FHIR launch from Epic/Cerner — read labs, appointments, demographics</a:t>
            </a:r>
            <a:br/>
            <a:r>
              <a:t>• Positioned as a **coordination layer**, not an EHR replacement</a:t>
            </a:r>
            <a:br/>
            <a:r>
              <a:t>• HIPAA-ready architecture; GDPR localization path for EU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3: Market — Niche, Sticky, Underserved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Addressable Market (U.S. only):</a:t>
            </a:r>
            <a:br/>
            <a:r>
              <a:t>• TAM at $5K–$50K/program/year: **$1.25M–$12.5M annually**</a:t>
            </a:r>
            <a:br/>
            <a:r>
              <a:t>• Expansion to EU+UK roughly doubles the program count</a:t>
            </a:r>
            <a:br/>
            <a:r>
              <a:t>• Post-transplant adherence, living-donor coordination, and pediatric modules extend TAM further</a:t>
            </a:r>
            <a:br/>
            <a:br/>
            <a:r>
              <a:t>Why this market wins:</a:t>
            </a:r>
            <a:br/>
            <a:r>
              <a:t>• Sticky: transplant programs rarely switch tools mid-cycle</a:t>
            </a:r>
            <a:br/>
            <a:r>
              <a:t>• Mission-critical: listing delays directly affect patient survival</a:t>
            </a:r>
            <a:br/>
            <a:r>
              <a:t>• Currently served by EHR modules with known usability gaps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4: Product — Four Layers of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┌─────────────────────────────────────────────┐</a:t>
            </a:r>
            <a:br/>
            <a:r>
              <a:t>│  Layer 4: Intelligence &amp; Analytics          │</a:t>
            </a:r>
            <a:br/>
            <a:r>
              <a:t>│  — Coordinator dashboards, completion rates, │</a:t>
            </a:r>
            <a:br/>
            <a:r>
              <a:t>│    time-to-listing metrics, SRTR reporting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Layer 3: Transplant Workflow Engine          │</a:t>
            </a:r>
            <a:br/>
            <a:r>
              <a:t>│  — Organ-specific checklists, document review, │</a:t>
            </a:r>
            <a:br/>
            <a:r>
              <a:t>│    approval chains, audit trails          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Layer 2: Dialysis &amp; Pre-Transplant Coordination│</a:t>
            </a:r>
            <a:br/>
            <a:r>
              <a:t>│  — Appointment scheduling, lab tracking,        │</a:t>
            </a:r>
            <a:br/>
            <a:r>
              <a:t>│    referral management, care-team chat        │</a:t>
            </a:r>
            <a:br/>
            <a:r>
              <a:t>├─────────────────────────────────────────────┤</a:t>
            </a:r>
            <a:br/>
            <a:r>
              <a:t>│  Layer 1: Patient Execution Layer             │</a:t>
            </a:r>
            <a:br/>
            <a:r>
              <a:t>│  — Mobile PWA, task checklists, medication    │</a:t>
            </a:r>
            <a:br/>
            <a:r>
              <a:t>│    reminders, educational content, progress   │</a:t>
            </a:r>
            <a:br/>
            <a:r>
              <a:t>│    tracking                                   │</a:t>
            </a:r>
            <a:br/>
            <a:r>
              <a:t>└─────────────────────────────────────────────┘</a:t>
            </a:r>
            <a:br/>
            <a:br/>
            <a:r>
              <a:t>MVP scope (Months 1–6): Layer 1 + Layer 2 for kidney only</a:t>
            </a:r>
            <a:br/>
            <a:r>
              <a:t>Phase 2 (Months 6–18): Add heart, liver, lung modules; living-donor workflows</a:t>
            </a:r>
            <a:br/>
            <a:r>
              <a:t>Phase 3 (Months 18–36): AI-powered personalization, EU expansion, SRTR automation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5: Competitive Landscape — The Gap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Strategic positioning:</a:t>
            </a:r>
            <a:br/>
            <a:r>
              <a:t>• Against transplant incumbents: "We own pre-transplant coordination, not post-transplant diagnostics."</a:t>
            </a:r>
            <a:br/>
            <a:r>
              <a:t>• Against generic players: "They offer 50 care journeys. We offer one — and we know every step."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6: Business Model — Land-and-Expand B2B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Pricing rationale:</a:t>
            </a:r>
            <a:br/>
            <a:r>
              <a:t>• All competitors use opaque enterprise sales — transparent pricing is a trust differentiator</a:t>
            </a:r>
            <a:br/>
            <a:r>
              <a:t>• Starter tier is low enough to bypass committee approval in some centers</a:t>
            </a:r>
            <a:br/>
            <a:r>
              <a:t>• Enterprise priced 20–40% below equivalent generic platforms to win displacement</a:t>
            </a:r>
            <a:br/>
            <a:br/>
            <a:r>
              <a:t>Freemium flywheel: Free patient app → viral coordinator invitations → trial → paid conversion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7: Traction &amp; Pilot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Current state:</a:t>
            </a:r>
            <a:br/>
            <a:r>
              <a:t>• Existing Next.js codebase with patient/case/task workflows</a:t>
            </a:r>
            <a:br/>
            <a:r>
              <a:t>• Document upload &amp; review pipeline</a:t>
            </a:r>
            <a:br/>
            <a:r>
              <a:t>• Dashboard &amp; analytics views</a:t>
            </a:r>
            <a:br/>
            <a:r>
              <a:t>• Bootstrap 5.3 PWA-ready UI</a:t>
            </a:r>
            <a:br/>
            <a:br/>
            <a:r>
              <a:t>Security &amp; compliance gaps being closed:</a:t>
            </a:r>
            <a:br/>
            <a:r>
              <a:t>• Middleware JWT bypass (P0) — fix in progress</a:t>
            </a:r>
            <a:br/>
            <a:r>
              <a:t>• Hardcoded fallback secret (P0) — fix in progress</a:t>
            </a:r>
            <a:br/>
            <a:r>
              <a:t>• Rate limiting (P0) — implementation scheduled</a:t>
            </a:r>
            <a:br/>
            <a:r>
              <a:t>• SOC 2 Type II audit engagement: Month 3 target</a:t>
            </a:r>
            <a:br/>
            <a:br/>
            <a:r>
              <a:t>Pilot strategy:</a:t>
            </a:r>
            <a:br/>
            <a:r>
              <a:t>• Target 1 academic + 1 community program for diversity</a:t>
            </a:r>
            <a:br/>
            <a:r>
              <a:t>• 90-day pilot with defined success metrics (checklist completion rate, coordinator time saved)</a:t>
            </a:r>
            <a:br/>
            <a:r>
              <a:t>• Manual contracts; no self-serve billing required for first revenue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8: Competitive Advantage — 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• **Domain depth:** Only platform built for the 5-stage pre-transplant journey (consideration → center selection → evaluation/listing → waiting → offer/surgery)</a:t>
            </a:r>
            <a:br/>
            <a:br/>
            <a:r>
              <a:t>• **First-mover in the gap:** No competitor combines transplant-specific checklists + real-time patient-coordinator chat + document workflows</a:t>
            </a:r>
            <a:br/>
            <a:br/>
            <a:r>
              <a:t>• **Compliance-first architecture:** HIPAA-ready on day one; GDPR localization path; granular consent management (none of the generic competitors expose this)</a:t>
            </a:r>
            <a:br/>
            <a:br/>
            <a:r>
              <a:t>4. Integration, not replacement: SMART on FHIR launch from Epic/Cerner reduces procurement friction vs. rip-and-replace</a:t>
            </a:r>
            <a:br/>
            <a:br/>
            <a:r>
              <a:t>5. Coordinator-first design: Built for the daily pain point, not the CIO's checklist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9: Financial Projections — Three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24-Month Revenue (Zero-Bootstrap Model):</a:t>
            </a:r>
            <a:br/>
            <a:br/>
            <a:br/>
            <a:r>
              <a:t>Key assumptions:</a:t>
            </a:r>
            <a:br/>
            <a:r>
              <a:t>• Founder-only, zero paid marketing (CAC ≈ €0)</a:t>
            </a:r>
            <a:br/>
            <a:r>
              <a:t>• Infrastructure cost: €70–€120/month</a:t>
            </a:r>
            <a:br/>
            <a:r>
              <a:t>• Monthly churn: 3–8% (Starter/Pro); annual churn: 15–50% (Enterprise)</a:t>
            </a:r>
            <a:br/>
            <a:r>
              <a:t>• Time to first paying customer: 3–9 months</a:t>
            </a:r>
            <a:br/>
            <a:br/>
            <a:r>
              <a:t>Unit economics (BASE):</a:t>
            </a:r>
            <a:br/>
            <a:r>
              <a:t>• Starter LTV: €5,000 | Professional LTV: €13,333 | Enterprise LTV: €144,000</a:t>
            </a:r>
            <a:br/>
            <a:r>
              <a:t>• Cash CAC: €0 | LTV:CAC = infinite on cash basis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10: Regulatory Pathway — Compliance as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Compliance milestones:</a:t>
            </a:r>
            <a:br/>
            <a:r>
              <a:t>• Month 1: HIPAA Security Rule gap analysis</a:t>
            </a:r>
            <a:br/>
            <a:r>
              <a:t>• Month 2: Signed BAAs with cloud provider + sub-processors</a:t>
            </a:r>
            <a:br/>
            <a:r>
              <a:t>• Month 3: SOC 2 Type II auditor engagement</a:t>
            </a:r>
            <a:br/>
            <a:r>
              <a:t>• Month 6: GDPR DPIA complete</a:t>
            </a:r>
            <a:br/>
            <a:r>
              <a:t>• Month 12: SOC 2 Type II report issued</a:t>
            </a:r>
            <a:br/>
            <a:br/>
            <a:r>
              <a:t>Why this matters: In healthcare SaaS, non-compliance is a terminal risk. A competitor with more features but no SOC 2 loses to a compliant vendor every time.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11: Team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Founder-led, domain-informed, compliance-first.</a:t>
            </a:r>
            <a:br/>
            <a:br/>
            <a:r>
              <a:t>The team combines healthcare SaaS product experience with deep understanding of the transplant coordinator workflow. The technical stack (Next.js, PostgreSQL, Prisma, Bootstrap) is production-tested and evolvable.</a:t>
            </a:r>
            <a:br/>
            <a:br/>
            <a:r>
              <a:t>Vision:</a:t>
            </a:r>
            <a:br/>
            <a:r>
              <a:t>• Every transplant patient, anywhere in the world, should have a clear, trackable path from referral to transplant — and every coordinator should know exactly where every patient stands, without opening a spreadsheet.</a:t>
            </a:r>
            <a:br/>
            <a:br/>
            <a:r>
              <a:t>Near-term milestones:</a:t>
            </a:r>
            <a:br/>
            <a:r>
              <a:t>• Month 3: First pilot clinic live</a:t>
            </a:r>
            <a:br/>
            <a:r>
              <a:t>• Month 6: First paying customer</a:t>
            </a:r>
            <a:br/>
            <a:r>
              <a:t>• Month 12: SOC 2 Type II + 10 paying customers</a:t>
            </a:r>
            <a:br/>
            <a:r>
              <a:t>• Month 18: First Enterprise contract + FHIR read integration</a:t>
            </a:r>
            <a:br/>
            <a:r>
              <a:t>• Year 2: Multi-organ expansion + EU market entry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Helvetica Neue"/>
              </a:defRPr>
            </a:pPr>
            <a:r>
              <a:t>Slide 12: The Ask —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02C"/>
                </a:solidFill>
                <a:latin typeface="Helvetica Neue"/>
              </a:defRPr>
            </a:pPr>
            <a:r>
              <a:t>Seeking: Angel / Pre-Seed round to accelerate from zero-bootstrap to first 10 paying customers</a:t>
            </a:r>
            <a:br/>
            <a:br/>
            <a:br/>
            <a:r>
              <a:t>Success metrics for this round:</a:t>
            </a:r>
            <a:br/>
            <a:r>
              <a:t>• 10+ paying customers across 3+ transplant programs</a:t>
            </a:r>
            <a:br/>
            <a:r>
              <a:t>• €5K+ MRR</a:t>
            </a:r>
            <a:br/>
            <a:r>
              <a:t>• Net revenue retention &gt;100%</a:t>
            </a:r>
            <a:br/>
            <a:r>
              <a:t>• SOC 2 Type II clean report</a:t>
            </a:r>
            <a:br/>
            <a:r>
              <a:t>• 1 published pilot case study with time-to-listing improvement data</a:t>
            </a:r>
            <a:br/>
            <a:br/>
            <a:r>
              <a:t>Contact:</a:t>
            </a:r>
            <a:br/>
            <a:r>
              <a:t>• Email: [investors@nephroassist.com]</a:t>
            </a:r>
            <a:br/>
            <a:r>
              <a:t>• LinkedIn: [linkedin.com/company/nephroassist]</a:t>
            </a:r>
            <a:br/>
            <a:r>
              <a:t>• Website: [nephroassist.com]</a:t>
            </a:r>
            <a:br/>
            <a:br/>
            <a:r>
              <a:t>---</a:t>
            </a:r>
            <a:br/>
            <a:br/>
            <a:r>
              <a:t>*All market data sourced from SRTR/OPTN, WHO, Eurotransplant, NHSBT, and live competitor website inspection. Financial projections are scenario-planning tools, not forecasts. Assumptions are explicitly stated in the Zero-Budget Financial Model (t_59df76ad).*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